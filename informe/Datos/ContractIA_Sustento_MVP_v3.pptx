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2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Alta (43%)</c:v>
                </c:pt>
                <c:pt idx="1">
                  <c:v>Media (37%)</c:v>
                </c:pt>
                <c:pt idx="2">
                  <c:v>Baja (20%)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43</c:v>
                </c:pt>
                <c:pt idx="1">
                  <c:v>37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Auditoría Inteligente de Contratos 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Multi-Agente con RAG + GraphRAG · Gemini 2.5 Pro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v8.2.0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31089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Sustento de Autodiagnóstico — Prototipo a MVP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II · Maestría en Ciencia de Datos e IA · UTEC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Nathan Bueno Villacorta  ·  Christian Augusto Monrroy Romani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0" y="914400"/>
            <a:ext cx="36576" cy="50292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Sustento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 15 minutos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241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024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central que resuelve ContractIA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0248" y="10241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024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Problema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261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Datos, entrevistas y dolor real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0" y="9144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6448" y="10241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15644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1024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MVP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1261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negocio y usuarios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3957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2633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Contexto, Contenedores, Componentes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22860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70248" y="23957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27024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633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capas del agente IA aplicado a ContractIA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22860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56448" y="23957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4108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End-to-End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41080" y="2633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multi-agente con RAG + GraphRAG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3767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Alcance: SÍ vs NO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y qué excluye el MVP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60520" y="3657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70248" y="3767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27024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Validación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54880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como métrica principal + secundarias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46720" y="3657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56448" y="3767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815644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64108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del Prototipo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641080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A: 314 páginas, 35 hallazgos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4048" y="51389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384048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6868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Principal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68680" y="5376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usuario y estrategia de mitigación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6052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270248" y="51389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58" name="Text 56"/>
          <p:cNvSpPr/>
          <p:nvPr/>
        </p:nvSpPr>
        <p:spPr>
          <a:xfrm>
            <a:off x="4270248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75488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en Producción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54880" y="5376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 — demo en vivo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56448" y="51389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63" name="Text 61"/>
          <p:cNvSpPr/>
          <p:nvPr/>
        </p:nvSpPr>
        <p:spPr>
          <a:xfrm>
            <a:off x="8156448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64108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Preguntas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641080" y="5376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prototipo viable al MVP que valida adopción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069848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80160"/>
            <a:ext cx="73152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4630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reducir de 320 horas a menos de 1 hora el screening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 de contratos de concesión APP, manteniendo trazabilidad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y sin reemplazar el juicio experto del analista?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es la pregunta central que ContractIA resuelve.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Problema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contratos APP en ProInversión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21945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promedio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revisión manual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914400"/>
            <a:ext cx="21945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889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por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típico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914400"/>
            <a:ext cx="21945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Problemáticas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3524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91440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0" y="91440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0584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promedio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contrato APP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94560"/>
            <a:ext cx="114300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33172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233172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PROBLEMÁTICAS IDENTIFICADAS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27432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2697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de revisión como cuello de botella operacional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2916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contrato consume 280-400 horas de revisión manual distribuidas en múltiples especialistas. El backlog se acumula más rápido de lo que se procesa.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349300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3447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multidisciplinaria compleja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3666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técnico, ambiental y financiero deben coordinar hallazgos sin un sistema centralizado. La información se fragmenta en emails y documentos dispersos.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" y="4242816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7280" y="4197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no detectadas hasta etapas avanzadas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7280" y="44165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cruzadas rotas, contradicciones entre cláusulas y desviaciones normativas se descubren tarde, generando riesgo de arbitraje internacional.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" y="4992624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992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97280" y="49469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 en calidad según el revisor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5166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profundidad y criterio de revisión depende de la experiencia individual. No existe un estándar mínimo sistematizado de verificación.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" y="574243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742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" y="56967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limitada de decisiones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59161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mecanismo sistemático para documentar qué se revisó, qué se encontró y por qué se tomó cada decisión durante el screening.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MVP — Decisión de Negocio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D9488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¿Este contrato APP puede avanzar a revisión especializada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requiere correcciones estructurales inmediatas?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2402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FINAL (Humano)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Rol: Analista contractual / Especialista legal junior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Nivel: Medio (conoce estructura de contratos APP)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 Frecuente (por cada contrato nuevo)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2735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Dolor: Tiempo excesivo en detectar errores básicos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5112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Canal: Web (contractia.pe) o Bot de Telegram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Decisión: Corregir/Devolver vs Escalar a especialista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240280"/>
            <a:ext cx="2560320" cy="237744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224028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(Sistema IA)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Pipeline multi-agente (Jurista + Auditor + Cronista)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27980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Gemini 2.5 Pro vía VertexAI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035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FAISS + GraphRAG (networkx + tripletas LLM)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32735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Qué pipeline ejecutar por tipo de análisis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35112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Dónde enrutar resultados de cada agente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3749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Cuándo escalar un hallazgo por severidad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48056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48056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8006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10B981">
              <a:alpha val="8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99.7%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212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320h a &lt;1h en screening inicial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0" y="48006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8B5CF6">
              <a:alpha val="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Agentes 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0" y="5212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Jurista, Auditor y Cronista en paralelo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48006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3B82F6">
              <a:alpha val="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5212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hallazgo con ubicación exacta y evidencia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48006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0D9488">
              <a:alpha val="8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real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5212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 activo con API, web y Telegram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509760" y="48006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59E0B">
              <a:alpha val="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humana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0" y="5212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asiste, nunca reemplaza al experto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 — C1: System Context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C4 Nivel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20040" cy="320040"/>
          </a:xfrm>
          <a:prstGeom prst="ellipse">
            <a:avLst/>
          </a:prstGeom>
          <a:solidFill>
            <a:srgbClr val="08427B"/>
          </a:solidFill>
          <a:ln/>
        </p:spPr>
      </p:sp>
      <p:sp>
        <p:nvSpPr>
          <p:cNvPr id="9" name="Shape 7"/>
          <p:cNvSpPr/>
          <p:nvPr/>
        </p:nvSpPr>
        <p:spPr>
          <a:xfrm>
            <a:off x="5596128" y="1207008"/>
            <a:ext cx="457200" cy="320040"/>
          </a:xfrm>
          <a:prstGeom prst="rect">
            <a:avLst/>
          </a:prstGeom>
          <a:solidFill>
            <a:srgbClr val="08427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4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Contractual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84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168B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359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 v8.2.0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System]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94760" y="2834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multi-agente (Jurista, Auditor, Cronista) con RAG + GraphRAG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auditoría automatizada de contratos APP.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Producción: contractia.pe · API: FastAPI en Cloud Run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420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VertexAI (Gemini 2.5 Pro)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System] External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semántico + text-embedding-004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326880" y="24688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5420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SQL (PostgreSQL 15)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System] External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auditorías, logs, estado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4622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/ FAISS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System] External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Vectores RAG + documentos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0" y="4572000"/>
            <a:ext cx="320040" cy="320040"/>
          </a:xfrm>
          <a:prstGeom prst="ellipse">
            <a:avLst/>
          </a:prstGeom>
          <a:solidFill>
            <a:srgbClr val="08427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6128" y="4864608"/>
            <a:ext cx="457200" cy="320040"/>
          </a:xfrm>
          <a:prstGeom prst="rect">
            <a:avLst/>
          </a:prstGeom>
          <a:solidFill>
            <a:srgbClr val="08427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5212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4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Legal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84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326880" y="438912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44622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Telegram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[Software System] External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móvil + aprobación de usuarios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contrato,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reportes [HTTPS]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5603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de análisis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[REST API / VertexAI]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2296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/ persiste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[SQL]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reporte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trazable [PDF/JSON]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603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[FAISS API]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4124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[Webhook]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824728" y="1527048"/>
            <a:ext cx="0" cy="758952"/>
          </a:xfrm>
          <a:prstGeom prst="line">
            <a:avLst/>
          </a:prstGeom>
          <a:noFill/>
          <a:ln w="12700">
            <a:solidFill>
              <a:srgbClr val="707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2926080"/>
            <a:ext cx="-822960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2926080"/>
            <a:ext cx="822960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24728" y="3657600"/>
            <a:ext cx="0" cy="914400"/>
          </a:xfrm>
          <a:prstGeom prst="line">
            <a:avLst/>
          </a:prstGeom>
          <a:noFill/>
          <a:ln w="12700">
            <a:solidFill>
              <a:srgbClr val="7070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3474720"/>
            <a:ext cx="-822960" cy="1097280"/>
          </a:xfrm>
          <a:prstGeom prst="line">
            <a:avLst/>
          </a:prstGeom>
          <a:noFill/>
          <a:ln w="12700">
            <a:solidFill>
              <a:srgbClr val="70707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503920" y="3474720"/>
            <a:ext cx="822960" cy="1097280"/>
          </a:xfrm>
          <a:prstGeom prst="line">
            <a:avLst/>
          </a:prstGeom>
          <a:noFill/>
          <a:ln w="12700">
            <a:solidFill>
              <a:srgbClr val="70707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6153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Leyenda: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0" y="6236208"/>
            <a:ext cx="182880" cy="182880"/>
          </a:xfrm>
          <a:prstGeom prst="ellipse">
            <a:avLst/>
          </a:prstGeom>
          <a:solidFill>
            <a:srgbClr val="08427B"/>
          </a:solidFill>
          <a:ln/>
        </p:spPr>
      </p:sp>
      <p:sp>
        <p:nvSpPr>
          <p:cNvPr id="41" name="Text 39"/>
          <p:cNvSpPr/>
          <p:nvPr/>
        </p:nvSpPr>
        <p:spPr>
          <a:xfrm>
            <a:off x="1600200" y="61996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377440" y="6236208"/>
            <a:ext cx="320040" cy="182880"/>
          </a:xfrm>
          <a:prstGeom prst="rect">
            <a:avLst/>
          </a:prstGeom>
          <a:solidFill>
            <a:srgbClr val="1168BD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0" y="6199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System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023360" y="6236208"/>
            <a:ext cx="320040" cy="1828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3"/>
          <p:cNvSpPr/>
          <p:nvPr/>
        </p:nvSpPr>
        <p:spPr>
          <a:xfrm>
            <a:off x="4389120" y="6199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 — C2: Container Diagram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C4 Nivel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47120" cy="5120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55555"/>
            </a:solidFill>
            <a:prstDash val="lgDash"/>
          </a:ln>
        </p:spPr>
      </p:sp>
      <p:sp>
        <p:nvSpPr>
          <p:cNvPr id="9" name="Text 7"/>
          <p:cNvSpPr/>
          <p:nvPr/>
        </p:nvSpPr>
        <p:spPr>
          <a:xfrm>
            <a:off x="457200" y="598932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 [Software System]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960120"/>
            <a:ext cx="3931920" cy="731520"/>
          </a:xfrm>
          <a:prstGeom prst="roundRect">
            <a:avLst>
              <a:gd name="adj" fmla="val 6250"/>
            </a:avLst>
          </a:prstGeom>
          <a:solidFill>
            <a:srgbClr val="438DD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014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Web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1795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Next.js 14 · TypeScript · Vercel]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6052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Landing, login, dashboard, audit, admin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200400" cy="731520"/>
          </a:xfrm>
          <a:prstGeom prst="roundRect">
            <a:avLst>
              <a:gd name="adj" fmla="val 6250"/>
            </a:avLst>
          </a:prstGeom>
          <a:solidFill>
            <a:srgbClr val="438DD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20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Backend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18541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FastAPI · Python · Cloud Run]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contracts, admin routers + webhook Telegram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0" y="1965960"/>
            <a:ext cx="3931920" cy="731520"/>
          </a:xfrm>
          <a:prstGeom prst="roundRect">
            <a:avLst>
              <a:gd name="adj" fmla="val 6250"/>
            </a:avLst>
          </a:prstGeom>
          <a:solidFill>
            <a:srgbClr val="438DD5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1854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Python · Multi-agente]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6052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auditoría: Jurista + Auditor + Cronista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321040" y="1965960"/>
            <a:ext cx="3200400" cy="731520"/>
          </a:xfrm>
          <a:prstGeom prst="roundRect">
            <a:avLst>
              <a:gd name="adj" fmla="val 6250"/>
            </a:avLst>
          </a:prstGeom>
          <a:solidFill>
            <a:srgbClr val="438DD5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2020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Telegram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18541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python-telegram-bot]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36676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Webhook, flujo de aprobación, comandos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0080" y="306324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438DD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18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2826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FAISS + Embeddings]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semántica vectorial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46120" y="306324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438DD5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118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2826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networkx + LLM]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9184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conocimiento con tripletas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852160" y="306324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438DD5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118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2826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Gemini 2.5 Pro]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89788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Jurista, Auditor, Cronista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458200" y="306324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438DD5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3118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32826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[Container: Markdown]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03920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con hallazgos trazables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4400" y="4297680"/>
            <a:ext cx="2103120" cy="731520"/>
          </a:xfrm>
          <a:prstGeom prst="rect">
            <a:avLst/>
          </a:prstGeom>
          <a:solidFill>
            <a:srgbClr val="438DD5"/>
          </a:solidFill>
          <a:ln/>
        </p:spPr>
      </p:sp>
      <p:sp>
        <p:nvSpPr>
          <p:cNvPr id="43" name="Shape 41"/>
          <p:cNvSpPr/>
          <p:nvPr/>
        </p:nvSpPr>
        <p:spPr>
          <a:xfrm>
            <a:off x="914400" y="420624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44" name="Shape 42"/>
          <p:cNvSpPr/>
          <p:nvPr/>
        </p:nvSpPr>
        <p:spPr>
          <a:xfrm>
            <a:off x="914400" y="484632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14400" y="45537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[Cloud SQL]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14400" y="4681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auditorías, logs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474720" y="4297680"/>
            <a:ext cx="2103120" cy="731520"/>
          </a:xfrm>
          <a:prstGeom prst="rect">
            <a:avLst/>
          </a:prstGeom>
          <a:solidFill>
            <a:srgbClr val="438DD5"/>
          </a:solidFill>
          <a:ln/>
        </p:spPr>
      </p:sp>
      <p:sp>
        <p:nvSpPr>
          <p:cNvPr id="49" name="Shape 47"/>
          <p:cNvSpPr/>
          <p:nvPr/>
        </p:nvSpPr>
        <p:spPr>
          <a:xfrm>
            <a:off x="3474720" y="420624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50" name="Shape 48"/>
          <p:cNvSpPr/>
          <p:nvPr/>
        </p:nvSpPr>
        <p:spPr>
          <a:xfrm>
            <a:off x="3474720" y="484632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0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74720" y="45537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[Cloud Storage]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474720" y="4681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Vectores embeddings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035040" y="4297680"/>
            <a:ext cx="2103120" cy="731520"/>
          </a:xfrm>
          <a:prstGeom prst="rect">
            <a:avLst/>
          </a:prstGeom>
          <a:solidFill>
            <a:srgbClr val="438DD5"/>
          </a:solidFill>
          <a:ln/>
        </p:spPr>
      </p:sp>
      <p:sp>
        <p:nvSpPr>
          <p:cNvPr id="55" name="Shape 53"/>
          <p:cNvSpPr/>
          <p:nvPr/>
        </p:nvSpPr>
        <p:spPr>
          <a:xfrm>
            <a:off x="6035040" y="420624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56" name="Shape 54"/>
          <p:cNvSpPr/>
          <p:nvPr/>
        </p:nvSpPr>
        <p:spPr>
          <a:xfrm>
            <a:off x="6035040" y="484632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57" name="Text 55"/>
          <p:cNvSpPr/>
          <p:nvPr/>
        </p:nvSpPr>
        <p:spPr>
          <a:xfrm>
            <a:off x="6035040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Store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5040" y="45537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[networkx]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35040" y="4681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tripletas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595360" y="4297680"/>
            <a:ext cx="2103120" cy="731520"/>
          </a:xfrm>
          <a:prstGeom prst="rect">
            <a:avLst/>
          </a:prstGeom>
          <a:solidFill>
            <a:srgbClr val="438DD5"/>
          </a:solidFill>
          <a:ln/>
        </p:spPr>
      </p:sp>
      <p:sp>
        <p:nvSpPr>
          <p:cNvPr id="61" name="Shape 59"/>
          <p:cNvSpPr/>
          <p:nvPr/>
        </p:nvSpPr>
        <p:spPr>
          <a:xfrm>
            <a:off x="8595360" y="420624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62" name="Shape 60"/>
          <p:cNvSpPr/>
          <p:nvPr/>
        </p:nvSpPr>
        <p:spPr>
          <a:xfrm>
            <a:off x="8595360" y="4846320"/>
            <a:ext cx="2103120" cy="201168"/>
          </a:xfrm>
          <a:prstGeom prst="ellipse">
            <a:avLst/>
          </a:prstGeom>
          <a:solidFill>
            <a:srgbClr val="438DD5"/>
          </a:solidFill>
          <a:ln/>
        </p:spPr>
      </p:sp>
      <p:sp>
        <p:nvSpPr>
          <p:cNvPr id="63" name="Text 61"/>
          <p:cNvSpPr/>
          <p:nvPr/>
        </p:nvSpPr>
        <p:spPr>
          <a:xfrm>
            <a:off x="8595360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95360" y="45537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[GCP]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595360" y="4681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keys, JWT, tokens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40080" y="530352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999999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5330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VertexAI (Gemini 2.5 Pro)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[External]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0" y="530352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999999"/>
          </a:solidFill>
          <a:ln/>
        </p:spPr>
      </p:sp>
      <p:sp>
        <p:nvSpPr>
          <p:cNvPr id="69" name="Text 67"/>
          <p:cNvSpPr/>
          <p:nvPr/>
        </p:nvSpPr>
        <p:spPr>
          <a:xfrm>
            <a:off x="3200400" y="5330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(CI/CD)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[External]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760720" y="530352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999999"/>
          </a:solidFill>
          <a:ln/>
        </p:spPr>
      </p:sp>
      <p:sp>
        <p:nvSpPr>
          <p:cNvPr id="71" name="Text 69"/>
          <p:cNvSpPr/>
          <p:nvPr/>
        </p:nvSpPr>
        <p:spPr>
          <a:xfrm>
            <a:off x="5760720" y="5330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Registry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[Docker Images]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 — 5 Capas del Agente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agente aplicada a ContractIA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11612880" cy="822960"/>
          </a:xfrm>
          <a:prstGeom prst="roundRect">
            <a:avLst>
              <a:gd name="adj" fmla="val 8889"/>
            </a:avLst>
          </a:prstGeom>
          <a:solidFill>
            <a:srgbClr val="D6EAF8"/>
          </a:solidFill>
          <a:ln w="1524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926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(contractia.pe) + Bot Telegram + API REST · Modo híbrido: Batch principal + Q&amp;A post-análisis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11612880" cy="822960"/>
          </a:xfrm>
          <a:prstGeom prst="roundRect">
            <a:avLst>
              <a:gd name="adj" fmla="val 8889"/>
            </a:avLst>
          </a:prstGeom>
          <a:solidFill>
            <a:srgbClr val="D5F5E3"/>
          </a:solidFill>
          <a:ln w="15240">
            <a:solidFill>
              <a:srgbClr val="58D6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8366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Definition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Auditor de contratos APP peruanos · Goals: Detectar inconsistencias, validar refs cruzadas, comparar normativa, reporte trazable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11612880" cy="1280160"/>
          </a:xfrm>
          <a:prstGeom prst="roundRect">
            <a:avLst>
              <a:gd name="adj" fmla="val 5714"/>
            </a:avLst>
          </a:prstGeom>
          <a:solidFill>
            <a:srgbClr val="FCF3CF"/>
          </a:solidFill>
          <a:ln w="15240">
            <a:solidFill>
              <a:srgbClr val="F4D0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9806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Definition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11612880" cy="777240"/>
          </a:xfrm>
          <a:prstGeom prst="roundRect">
            <a:avLst>
              <a:gd name="adj" fmla="val 9412"/>
            </a:avLst>
          </a:prstGeom>
          <a:solidFill>
            <a:srgbClr val="FADBD8"/>
          </a:solidFill>
          <a:ln w="15240">
            <a:solidFill>
              <a:srgbClr val="EC70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966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Dimension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Semi-Autónomo: Pipeline completo automático (3 agentes en paralelo) · Decisión Corregir/Escalar = siempre humana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983480"/>
            <a:ext cx="11612880" cy="1188720"/>
          </a:xfrm>
          <a:prstGeom prst="roundRect">
            <a:avLst>
              <a:gd name="adj" fmla="val 6154"/>
            </a:avLst>
          </a:prstGeom>
          <a:solidFill>
            <a:srgbClr val="F9E79F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0383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Dimension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035808"/>
            <a:ext cx="2560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72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" y="327355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vectors + GraphRAG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Normativa, D.L. 1224, contratos ref.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3035808"/>
            <a:ext cx="2560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072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327355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Pro, pdfplumber, Regex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FAISS, networkx, Markdown gen.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97880" y="3035808"/>
            <a:ext cx="2560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072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 Memory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71032" y="327355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usuarios, auditorías,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métricas históricas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95360" y="3035808"/>
            <a:ext cx="2560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3072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Term Memory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68512" y="327355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segmentado, hallazgos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parciales, caché de sesión LLM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52852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321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" y="55229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humana obligatoria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Disclaimers, trazabilidad completa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0" y="52852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5321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73552" y="55229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≤ 1h, aceptación ≥ 60%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≥ 90%, falsos positivos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97880" y="52852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5321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71032" y="55229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V2: segundo LLM valida hallazgos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implementado en MVP)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595360" y="52852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5321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68512" y="55229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Temp. baja, caché, logging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completo, reglas fijas severidad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End-to-End — Pipeline Multi-Agente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GraphRAG · Jurista + Auditor + Cronista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0D9488">
              <a:alpha val="10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07899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 vía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o Telegram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4884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3172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3B82F6">
              <a:alpha val="1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07899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3172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Cláusulas extraídas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estructuradas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8B5CF6">
              <a:alpha val="1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078992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embeddings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GraphRAG tripletas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8076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59E0B">
              <a:alpha val="1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0789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Agentes 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Jurista + Auditor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Cronista en paralelo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0B981">
              <a:alpha val="1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10789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9154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trazables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severidad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1268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9556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EF4444">
              <a:alpha val="1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81360" y="107899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1088136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9556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19556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Humano: Corregir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Escalar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2560320"/>
            <a:ext cx="114300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2697480"/>
            <a:ext cx="3474720" cy="237744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269748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DETALLE: 3 AGENTES EN PARALELO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306324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" y="3429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normativa legal aplicable,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cláusulas problemáticas, referencias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cruzadas rotas, desviaciones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lineamientos ProInversión y leyes APP.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06240" y="306324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343400" y="3429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riesgos contractuales,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penalidades asimétricas, condiciones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desfavorables, contradicciones entre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obligaciones y derechos de las partes.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72400" y="306324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Cronista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909560" y="3429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Sintetiza hallazgos de Jurista y Auditor,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el informe final estructurado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severidad, ubicación exacta,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y recomendaciones.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470916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621792" y="470916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ANÁLISIS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0080" y="50292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074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5321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Refs. cruzadas rotas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Numeración inconsistente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incorrecto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06240" y="50292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5074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 (LLM)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297680" y="5321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Contradicciones entre cláusulas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Ambigüedades relevantes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Pertinencia semántica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72400" y="50292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5074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Normativo (RAG + GraphRAG)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863840" y="5321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Lineamientos ProInversión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 sectorial (D.L. 1224)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referencia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Alcance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SÍ incluye y qué NO incluye el MVP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56235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5156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0515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DENTRO DEL MVP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Screening inicial de contratos 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6550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Segmentación automática del documento (PDF/DOCX)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38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agentes en paralelo: Jurista, Auditor, Cronista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RAG con FAISS + GraphRAG con networkx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Validación estructural determinista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Análisis semántico de contradicciones (Gemini 2.5 Pro)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0723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Comparación contra normativa vectorizada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3558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Reporte trazable por severidad (MD export)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39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Decisión humana obligatoria (Corregir vs Escalar)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Interfaz web funcional (contractia.pe en Vercel)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REST (FastAPI en Cloud Run)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4897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Bot de Telegram (webhook + aprobación)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7731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Autenticación JWT + OTP por email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5056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Panel admin con gestión de usuarios y roles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3400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CI/CD: GitHub Actions → Docker → Cloud Run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Logging y auditoría en PostgreSQL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914400"/>
            <a:ext cx="56235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105156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10515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FUERA DEL MVP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37960" y="1371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Aprobación/rechazo automático de contratos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16550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Interpretación jurídica vinculante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1938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Cobertura normativa exhaustiva (todos los sectores)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CLM: versionado, control de cambios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25054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Integraciones con sistemas externos (SAP, ERP)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Multiusuario concurrente con SLA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37960" y="30723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Dashboards interactivos avanzados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33558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Fine-tuning / entrenamiento supervisado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37960" y="3639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Explicabilidad tipo SHAP / token-level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39227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Multi-idioma (solo español en MVP)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37960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Análisis de contratos no-APP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7960" y="44897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LLM-as-a-Judge (planificado para V2)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Principal de Validación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— Time to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— Time to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desde "contrato cargado" hasta "decisión registrada" (Corregir/Devolver vs Escalar).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109728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43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320h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Rango: 280-400h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05256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143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MVP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41832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1h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418320" y="1920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Reducción: ~99.7%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246120"/>
            <a:ext cx="2560320" cy="237744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2461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SECUNDARIAS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análisis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566160"/>
            <a:ext cx="822960" cy="228600"/>
          </a:xfrm>
          <a:prstGeom prst="roundRect">
            <a:avLst>
              <a:gd name="adj" fmla="val 48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35661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cláusulas indexadas y analizadas del total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detección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895344"/>
            <a:ext cx="822960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389534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cruzadas rotas (módulo determinista)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224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aceptación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4224528"/>
            <a:ext cx="822960" cy="228600"/>
          </a:xfrm>
          <a:prstGeom prst="roundRect">
            <a:avLst>
              <a:gd name="adj" fmla="val 48000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224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4224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marcados como útiles por el usuario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45537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reporte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4553712"/>
            <a:ext cx="822960" cy="228600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4553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455371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fin de análisis hasta reporte generado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4882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inter-run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4882896"/>
            <a:ext cx="822960" cy="228600"/>
          </a:xfrm>
          <a:prstGeom prst="roundRect">
            <a:avLst>
              <a:gd name="adj" fmla="val 48000"/>
            </a:avLst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4882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488289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 entre ejecuciones del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1520" y="5623560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" y="56235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GO / NO-GO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" y="591616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5916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" y="589788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≤ 1h verificado en al menos 3 contratos diferentes de concesión APP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2960" y="61173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6117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" y="609904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aceptación ≥ 60% — hallazgos marcados como útiles superan el ruido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" y="631850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6318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" y="630021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1 analista integra el sistema en su flujo regular de trabajo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del Prototipo — Contrato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empírica con contrato real de concesión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21945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91440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21945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Cláusulas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914400"/>
            <a:ext cx="21945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9144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0" y="914400"/>
            <a:ext cx="2194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&lt;1h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440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total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42316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24231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POR SEVERIDAD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31520" y="278892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5669280" y="2286000"/>
            <a:ext cx="6126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52160" y="242316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5925312" y="242316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VALIDADAS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897880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26480" y="27432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320h → &lt;1h (&gt;99% reducción)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89788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126480" y="30723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cláusulas procesadas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89788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26480" y="34015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cláusula, párrafo y rango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897880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126480" y="37307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Multi-agente: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Jurista + Auditor + Cronista en paralelo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897880" y="4059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26480" y="40599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GraphRAG: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normativa con grafo de conocimiento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897880" y="4389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126480" y="43891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(contractia.pe) + Bot Telegram + API REST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897880" y="4718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26480" y="47183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+ Vercel + PostgreSQL + CI/CD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897880" y="5047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126480" y="5047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OTP email + roles (pendiente/básico/auditor/admin)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Principal del MVP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usuario como variable central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F4444">
              <a:alpha val="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0584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51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confianza del usuario en los hallazgos generados por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usuario no confía en los resultados, el sistema no será utilizado en el flujo real de trabajo, independientemente de su precisión técnica.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31720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33172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MVP EXPONE Y MITIGA ESTE RIESGO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10B981">
              <a:alpha val="7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6974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humana obligatoria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546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hallazgo genera acción sin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explícita del analista.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Corregir/Escalar = siempre humana.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0440" y="26974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3B82F6">
              <a:alpha val="7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974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explícita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1546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hallazgo incluye: ubicación exacta,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análisis utilizado, fundamento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normativo y nivel de severidad.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6974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8B5CF6">
              <a:alpha val="7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69748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apoyo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integra como soporte al juicio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experto, no como reemplazo.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Disclaimers explícitos en todo el sistema.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98280" y="26974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59E0B">
              <a:alpha val="7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269748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909828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de patrones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89720" y="31546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mide qué hallazgos se aceptan/ignoran,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dedicado por el usuario, 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para calibración continua.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en Producción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 — Sistema desplegado y operativo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51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TypeScript · Tailwind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(deploy automático)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9144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91440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051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Python 3.11 · Uvicorn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1508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(us-central1)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9144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91440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051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75320" y="1508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SQL (us-central1)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37744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+ text-embedding-004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2971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23774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237744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python-telegram-bot (webhook)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2971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(mismo container)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38160" y="23774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237744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7532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→ Docker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75320" y="2971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Registry → Cloud Run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4069080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40690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Y URLS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3891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Producción: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46268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Docs: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contractia-api-...us-central1.run.app/docs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48646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Repositorio: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github.com/ChristianMonrroy/contractia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" y="51023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Versión: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v8.2.0 (51 commits, 8 releases)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34009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Lenguajes: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63% · TypeScript 36%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9319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4069080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473952" y="40690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4389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Registro con OTP por email + roles (4 niveles)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9224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Upload PDF/DOCX → vectorización automática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Auditoría multi-agente (Jurista + Auditor + Cronista)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92240" y="5212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RAG + GraphRAG (networkx + tripletas LLM)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5486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Panel admin: gestión usuarios + logs de actividad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5760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Estado de auditoría persistido en PostgreSQL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6035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Lock de concurrencia basado en DB (auto-expira 20m)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6309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Bot Telegram con flujo de aprobación de usuarios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prototipo técnicamente viable al MVP que valida adopción real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claro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reducir 320h a &lt;1h sin reemplazar al experto?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acotado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inicial con 3 agentes IA + decisión humana obligatoria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82219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validada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 de 320h a &lt;1h, 35 hallazgos en 314 páginas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462272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6634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 — v8.2.0, web + API + Telegram, CI/CD completo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10235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expuesto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5303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usuario como variable central con 4 estrategias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— Preguntas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6172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contractia.pe  ·  github.com/ChristianMonrroy/contractia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384048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Metodología — Lean Startup aplicado a ContractIA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Build → Measure → Learn adaptado a producto de ciencia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182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4B8A6"/>
                </a:solidFill>
                <a:latin typeface="Arial"/>
              </a:rPr>
              <a:t>ContractIA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356616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35661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41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Construir el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Pipeline multi-agente (Jurista, Auditor, Cronista)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RAG + GraphRAG sobre normativa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7627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Segmentación y validación determinista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3230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Interfaz web (contractia.pe) + API +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8833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Auth JWT + roles + CI/CD en Cloud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Principio: "Feo pero funcional"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Decisión humana obligatoria como guardrail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914400"/>
            <a:ext cx="356616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914400"/>
            <a:ext cx="35661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941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371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rial"/>
              </a:rPr>
              <a:t>Medir con datos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66420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TTR principal: 320h → ≤ 1h (validado)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92024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Tasa de aceptación de hallazgos ≥ 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17627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Cobertura de análisis ≥ 90% cláusulas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3230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Detección de refs. cruzadas rotas: 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68833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Consistencia inter-ejecución del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443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Logging en PostgreSQL (duración, canal)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20040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Feedback: aceptar / ignorar / escalar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914400"/>
            <a:ext cx="356616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914400"/>
            <a:ext cx="35661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941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371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Aprender e iterar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66420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Go/No-Go: 3 criterios definidos para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92024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¿Confían los analistas en los hallazgos?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17627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¿Qué tipos de hallazgos ignoran? → calibrar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43230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¿El TTR se mantiene con contratos diversos?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68833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Pivote: LLM-as-Judge si falsos positivos alto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9443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Pivote: cambiar LLM si consistencia &lt; umbral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20040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▸ Escalar: multi-contrato, más sectores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3886200"/>
            <a:ext cx="11430000" cy="2743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4023360"/>
            <a:ext cx="4114800" cy="23774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02336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CÓMO APLICAMOS LEAN STARTUP EN CONTRACTIA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31596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rial"/>
              </a:rPr>
              <a:t>Fase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31596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rial"/>
              </a:rPr>
              <a:t>Hipótesis a validar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31596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rial"/>
              </a:rPr>
              <a:t>Criterio de éxito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4526280"/>
            <a:ext cx="15087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57200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Capstone I
(Prototipo)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45445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Validación técnica: ¿Se puede segmentar, indexar y analizar un contrato
APP de +300 páginas con LLM + RAG?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45445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9488"/>
                </a:solidFill>
                <a:latin typeface="Arial"/>
              </a:rPr>
              <a:t>Resultado: SÍ — 314 págs, 35 hallazgos, &lt;1h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5166360"/>
            <a:ext cx="15087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2120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Capstone II
(MVP)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184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Validación de adopción: ¿Un analista real confía en los hallazgos
y los usa en su flujo de trabajo?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51846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B82F6"/>
                </a:solidFill>
                <a:latin typeface="Arial"/>
              </a:rPr>
              <a:t>Métrica: TTR ≤1h + aceptación ≥60% + 1 usuario activo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806440"/>
            <a:ext cx="15087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85215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Post-Capstone
(V2 — Escalar)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82472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Validación de mercado: ¿Otros equipos y sectores adoptan el sistema?
¿Se sostiene el valor con más contratos?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582472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9E0B"/>
                </a:solidFill>
                <a:latin typeface="Arial"/>
              </a:rPr>
              <a:t>Pivote o escalar según criterios Go/No-Go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ContractIA — Sustento MVP</dc:title>
  <dc:subject>PptxGenJS Presentation</dc:subject>
  <dc:creator>Bueno &amp; Monrroy</dc:creator>
  <cp:lastModifiedBy>Bueno &amp; Monrroy</cp:lastModifiedBy>
  <cp:revision>1</cp:revision>
  <dcterms:created xsi:type="dcterms:W3CDTF">2026-03-03T23:28:31Z</dcterms:created>
  <dcterms:modified xsi:type="dcterms:W3CDTF">2026-03-03T23:28:31Z</dcterms:modified>
</cp:coreProperties>
</file>