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27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0554-CA4D-E748-4522-EF6648A5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F8475-C718-540B-0BA7-1D13D1F4D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5082F-A9CC-1565-90BE-990B961E5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6306-329A-727D-B3EE-D25BE2E21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33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BC19-5D0C-AEC1-B54C-B2C548A9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60FFA-E7C8-1B82-2F0B-D594BF26A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6990E-88B8-A399-BC3F-68F83FCD4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71477-A097-AFC8-7802-22B3D42F2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50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0"/>
          </a:solidFill>
          <a:ln w="12700">
            <a:solidFill>
              <a:srgbClr val="0096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96B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0C2D4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31520"/>
            <a:ext cx="1371600" cy="3200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v8.3.0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ContractIA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de Auditoría Inteligente de Contratos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Agente Multi-LLM · RAG + GraphRAG · Arquitectura Multi-Agente · Producción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657600" cy="27432"/>
          </a:xfrm>
          <a:prstGeom prst="rect">
            <a:avLst/>
          </a:prstGeom>
          <a:solidFill>
            <a:srgbClr val="0096B0"/>
          </a:solidFill>
          <a:ln w="12700">
            <a:solidFill>
              <a:srgbClr val="009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58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Christian Augusto Monrroy Romani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 Ernesto Ponce Contreras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Alexis Vasquez García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 Enrique Trucios Ruiz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08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</a:rPr>
              <a:t>Maestría en Ciencia de Datos e IA  ·  UTEC  ·  Marzo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35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</a:rPr>
              <a:t>contractia.pe</a:t>
            </a:r>
            <a:r>
              <a:rPr lang="en-US" sz="1100" dirty="0">
                <a:solidFill>
                  <a:srgbClr val="7A9CC0"/>
                </a:solidFill>
              </a:rPr>
              <a:t>   |   github.com/ChristianMonrroy/contractia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01 /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Legal Manual: Costosa, Lenta y Propensa a Errores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377440" cy="137160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horas de revisión manual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por contrato complejo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365760" cy="54864"/>
          </a:xfrm>
          <a:prstGeom prst="rect">
            <a:avLst/>
          </a:prstGeom>
          <a:solidFill>
            <a:srgbClr val="0096B0"/>
          </a:solidFill>
          <a:ln w="12700">
            <a:solidFill>
              <a:srgbClr val="0096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17320"/>
            <a:ext cx="2377440" cy="137160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08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hora con ContractIA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(reducción 320x)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834640" cy="54864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252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Referencias rotas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4630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0"/>
                </a:solidFill>
              </a:rPr>
              <a:t>Cláusulas que apuntan a secciones inexistentes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847088"/>
            <a:ext cx="2834640" cy="54864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47088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88366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Plazos inconsistentes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0"/>
                </a:solidFill>
              </a:rPr>
              <a:t>Suma de plazos parciales supera el máximo global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505456"/>
            <a:ext cx="2834640" cy="54864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505456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5420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Ambigüedad temporal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7797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0"/>
                </a:solidFill>
              </a:rPr>
              <a:t>'Días hábiles' vs 'días calendario' sin distinción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163824"/>
            <a:ext cx="2834640" cy="54864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163824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200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Normativa incorrecta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4381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0"/>
                </a:solidFill>
              </a:rPr>
              <a:t>Leyes que contradicen el marco general del contrato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822192"/>
            <a:ext cx="2834640" cy="54864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3822192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8587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Dead-ends lógicos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40965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CC0"/>
                </a:solidFill>
              </a:rPr>
              <a:t>Flujos de proceso sin ruta de salida definida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02 /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ContractIA: IA Generativa para Auditoría Contractual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162D50"/>
          </a:solidFill>
          <a:ln w="12700">
            <a:solidFill>
              <a:srgbClr val="009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EE"/>
                </a:solidFill>
              </a:rPr>
              <a:t>Sistema que combina modelos de lenguaje de última generación (Gemini 2.5 Pro), RAG + GraphRAG y arquitectura multi-agente para detectar inconsistencias en contratos legales automáticamente, accesible vía web (contractia.pe) y bot de Telegram.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965960" cy="246888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1965960" cy="7315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Multi-Agente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</a:rPr>
              <a:t>3 agentes especializados coordinados: Jurista, Auditor, Cronista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103120"/>
            <a:ext cx="1965960" cy="246888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2103120"/>
            <a:ext cx="196596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RAG + GraphRAG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8608" y="278892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</a:rPr>
              <a:t>Recuperación semántica y grafo de conocimiento para análisis profundo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2103120"/>
            <a:ext cx="1965960" cy="246888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2103120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Producción Real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0016" y="278892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</a:rPr>
              <a:t>Desplegado en Google Cloud Platform con CI/CD y observabilidad completa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9984" y="2103120"/>
            <a:ext cx="1965960" cy="2468880"/>
          </a:xfrm>
          <a:prstGeom prst="rect">
            <a:avLst/>
          </a:prstGeom>
          <a:solidFill>
            <a:srgbClr val="162D5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210312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Multi-Canal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21424" y="278892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</a:rPr>
              <a:t>Interfaz web Next.js 14 y bot de Telegram con autenticación JWT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03 /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Arquitectura de 5 Capas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Presentación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71600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Next.js 14 (Vercel)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79066" y="1371600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9066" y="1380744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Telegram Bot (Webhook)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8412480" cy="594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47672"/>
            <a:ext cx="73152" cy="5943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39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084832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00C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084832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FastAPI + Python 3.11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79066" y="2093976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9066" y="2093976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Cloud Run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8412480" cy="594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60904"/>
            <a:ext cx="73152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Procesamiento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2798064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798064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79066" y="2807208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9066" y="2807208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RAG Pipeline (FAISS)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89252" y="2807208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9252" y="2807208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PostgreSQL 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74136"/>
            <a:ext cx="8412480" cy="594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74136"/>
            <a:ext cx="7315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65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Agentes 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3511296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511296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Jurista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79066" y="3520440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9066" y="3520440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Auditor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89252" y="3520440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9252" y="3520440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Cronista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99438" y="2807208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9438" y="2807208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GraphRAG (networkx)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087368"/>
            <a:ext cx="8412480" cy="594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4087368"/>
            <a:ext cx="7315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LLM / Embeddings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68880" y="4224528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4224528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Gemini 2.5 Pro (VertexAI)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79066" y="4233672"/>
            <a:ext cx="1273026" cy="310896"/>
          </a:xfrm>
          <a:prstGeom prst="rect">
            <a:avLst/>
          </a:prstGeom>
          <a:solidFill>
            <a:srgbClr val="0F204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79066" y="4233672"/>
            <a:ext cx="12730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E"/>
                </a:solidFill>
              </a:rPr>
              <a:t>text-embedding-004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193B7-B67A-CCA0-DEA7-C99AE3F9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AE33B2-ECF3-C51C-78D0-C40E3FFDA4F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16B3C9-ED82-ED35-A7E4-E7BB7406BA24}"/>
              </a:ext>
            </a:extLst>
          </p:cNvPr>
          <p:cNvSpPr/>
          <p:nvPr/>
        </p:nvSpPr>
        <p:spPr>
          <a:xfrm>
            <a:off x="457200" y="228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03 / ARQUITECTURA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F26FD6-43D5-D6C2-EBC8-042B97D4C8DB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</a:rPr>
              <a:t>Arquitectura</a:t>
            </a:r>
            <a:endParaRPr lang="en-US" sz="28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0F42A2AC-9A68-EA8E-EB07-1A44BA9A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55" y="1146972"/>
            <a:ext cx="7047689" cy="38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0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B98E2-CDD3-1152-AE49-967B719F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C26554-B14D-4E93-77F3-485CF997A5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9B91EC-8DA4-F240-84CE-75F08D7F4AFB}"/>
              </a:ext>
            </a:extLst>
          </p:cNvPr>
          <p:cNvSpPr/>
          <p:nvPr/>
        </p:nvSpPr>
        <p:spPr>
          <a:xfrm>
            <a:off x="457200" y="228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03 / ARQUITECTURA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2C86F8-F00E-4287-F493-C3E5912D9C33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</a:rPr>
              <a:t>Arquitectura</a:t>
            </a:r>
            <a:endParaRPr lang="en-US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43652A-53E2-C271-3ED5-AA317F64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6" y="1097280"/>
            <a:ext cx="8391728" cy="391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8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04 / AGENTES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Tres Agentes Especializados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9CC0"/>
                </a:solidFill>
              </a:rPr>
              <a:t>FASE 1: PARALELO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9CC0"/>
                </a:solidFill>
              </a:rPr>
              <a:t>FASE 2: SECUENCIAL (usa output Jurista)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3200400"/>
          </a:xfrm>
          <a:prstGeom prst="rect">
            <a:avLst/>
          </a:prstGeom>
          <a:solidFill>
            <a:srgbClr val="162D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69748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JURISTA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1783080" cy="256032"/>
          </a:xfrm>
          <a:prstGeom prst="rect">
            <a:avLst/>
          </a:prstGeom>
          <a:solidFill>
            <a:srgbClr val="0F2040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</a:rPr>
              <a:t>Fase 1 (Paralelo)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CC0"/>
                </a:solidFill>
              </a:rPr>
              <a:t>Input: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E"/>
                </a:solidFill>
              </a:rPr>
              <a:t>Texto sección + contexto grafo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Identifica normativa legal externa invocada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Detecta contradicciones con el marco contractual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Salida: lista JSON de referencias externas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508760"/>
            <a:ext cx="2697480" cy="320040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508760"/>
            <a:ext cx="26974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CRONISTA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0" y="2084832"/>
            <a:ext cx="1783080" cy="256032"/>
          </a:xfrm>
          <a:prstGeom prst="rect">
            <a:avLst/>
          </a:prstGeom>
          <a:solidFill>
            <a:srgbClr val="0F204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Fase 1 (Paralelo)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CC0"/>
                </a:solidFill>
              </a:rPr>
              <a:t>Input: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E"/>
                </a:solidFill>
              </a:rPr>
              <a:t>Texto sección + contexto grafo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Analiza plazos y secuencias de procesos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Detecta dead-ends lógicos (LOGICA_PROCESO)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ERROR_PLAZOS: suma parcial &gt; máximo global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508760"/>
            <a:ext cx="2697480" cy="320040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508760"/>
            <a:ext cx="26974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554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AUDITOR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92240" y="2084832"/>
            <a:ext cx="1783080" cy="256032"/>
          </a:xfrm>
          <a:prstGeom prst="rect">
            <a:avLst/>
          </a:prstGeom>
          <a:solidFill>
            <a:srgbClr val="0F2040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Fase 2 (Usa Jurista)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CC0"/>
                </a:solidFill>
              </a:rPr>
              <a:t>Input: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E"/>
                </a:solidFill>
              </a:rPr>
              <a:t>Texto + RAG + Grafo + refs Jurista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Valida referencias internas cruzadas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200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Detecta REFERENCIA_INEXISTENTE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›  </a:t>
            </a:r>
            <a:r>
              <a:rPr lang="en-US" sz="1000" dirty="0">
                <a:solidFill>
                  <a:srgbClr val="C8D8EE"/>
                </a:solidFill>
              </a:rPr>
              <a:t>Verifica coherencia semántica con GraphRAG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05 / RECUPERACIÓN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RAG + GraphRAG: Cobertura Semántica y Estructural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42900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RAG — Vector Store FAISS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1. Segmentación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RecursiveCharacterTextSplitter · chunks 1500 chars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2. Vectorización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text-embedding-004 (VertexAI) · batches de 10 docs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3. Indexación FAISS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Vectores en memoria, búsqueda por similitud coseno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4. Recuperación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RAG_TOP_K=3 fragmentos más similares por sección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⚡ Ventaja clave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Detecta inconsistencias entre secciones distantes del contrato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4023360" cy="342900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527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GraphRAG — Grafo networkx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Entidades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Cláusulas · Leyes · Plazos · Roles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3134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Relaciones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REFERENCIA_A · SE_RIGE_POR · ESTABLECE_PLAZO · DEPENDE_DE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816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Jurista usa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Detecta si ley invocada contradice marco contractual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319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Auditor usa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Verifica coherencia semántica (no solo sintáctica)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822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Cronista usa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Suma plazos encadenados entre múltiples cláusulas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06 /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Técnica Avanzada: ReAct + Chain-of-Thought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CoT — Razonamiento Guiado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Pasos explícitos numerados en cada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Fuerza razonamiento incremental antes del 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"Si no está en el índice global → REFERENCIA_INEXISTENTE"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9748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</a:rPr>
              <a:t>ReAct — Acción con Herramientas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Agentes reciben contexto RAG como 'observaciones'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Ciclo: Reason → Observe → 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Output del Jurista alimenta al Auditor (dependencia explícita)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98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Salida Estructurada 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Instrucción: responde SOLO con JSON válido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Esquema fijo con hay_errores_logicos + hallazgos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8895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▸  </a:t>
            </a:r>
            <a:r>
              <a:rPr lang="en-US" sz="1000" dirty="0">
                <a:solidFill>
                  <a:srgbClr val="C8D8EE"/>
                </a:solidFill>
              </a:rPr>
              <a:t>parse_json_seguro limpia markdown y extrae JSON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162D5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57600"/>
            <a:ext cx="7315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Resiliencia: Reintentos Automáticos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05079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E"/>
                </a:solidFill>
              </a:rPr>
              <a:t>Cada agente ejecuta hasta 3 reintentos con 10 segundos de pausa ante fallos del LLM. parse_json_seguro maneja salidas imperfectas: limpia markdown, comentarios, comas finales y extrae JSON embebido automáticamente.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07 /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Completo de Auditoría (10 Pasos)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502920" cy="56692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167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Recibir contrato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PDF o DOCX vía web/Telegram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75104"/>
            <a:ext cx="502920" cy="56692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751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Extraer texto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677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pypdf + OCR Tesseract (contratos escaneados)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88336"/>
            <a:ext cx="50292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883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743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9809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Regex: CAPÍTULO, ANEXO, Cláusula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01568"/>
            <a:ext cx="502920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4564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Construir índices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694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Índice global, secciones, cláusulas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14800"/>
            <a:ext cx="502920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14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4169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Vectorizar RAG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4074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FAISS + text-embedding-004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261872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261872"/>
            <a:ext cx="502920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261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13167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Grafo GraphRAG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5544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Extracción de tripletas via LLM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975104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1975104"/>
            <a:ext cx="5029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9751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20299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Agentes (paralelo)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2677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Jurista + Cronista simultáneos por sección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688336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688336"/>
            <a:ext cx="5029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6883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57800" y="2743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Auditor (secuencial)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29809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Usa refs del Jurista para validación cruzada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3401568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401568"/>
            <a:ext cx="5029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4015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34564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Generar informe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36941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Markdown consolidado → PDF (fpdf2)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4114800"/>
            <a:ext cx="4023360" cy="566928"/>
          </a:xfrm>
          <a:prstGeom prst="rect">
            <a:avLst/>
          </a:prstGeom>
          <a:solidFill>
            <a:srgbClr val="162D50"/>
          </a:solidFill>
          <a:ln w="12700">
            <a:solidFill>
              <a:srgbClr val="1A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4114800"/>
            <a:ext cx="5029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4114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57800" y="4169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57800" y="44074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0"/>
                </a:solidFill>
              </a:rPr>
              <a:t>Email con PDF adjunto + mensaje Telegram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08 /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Stack Tecnológico de Producción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IA / LLM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Gemini 2.5 Pro (VertexAI)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text-embedding-004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4323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LangChain 0.3+ LCEL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737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FastAPI + Python 3.11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084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Uvicorn + Cloud Run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4323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D4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PostgreSQL 15 (Cloud SQL)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737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Next.js 14 + TypeScript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2084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Tailwind CSS + Vercel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4323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JWT + bcrypt + OTP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63240"/>
            <a:ext cx="26517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Recuperación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35204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FAISS Vector Store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8679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networkx DiGraph (GraphRAG)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42153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Tesseract OCR + Poppler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DevOps / CI-CD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35204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Docker + GitHub Actions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38679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GCP Artifact Registry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42153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Secret Manager + WIF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063240"/>
            <a:ext cx="2651760" cy="1600200"/>
          </a:xfrm>
          <a:prstGeom prst="rect">
            <a:avLst/>
          </a:prstGeom>
          <a:solidFill>
            <a:srgbClr val="162D50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063240"/>
            <a:ext cx="265176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Canales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44768" y="35204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python-telegram-bot 20+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44768" y="38679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Gmail SMTP (notificaciones)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421538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</a:rPr>
              <a:t>·  </a:t>
            </a:r>
            <a:r>
              <a:rPr lang="en-US" sz="1000" dirty="0">
                <a:solidFill>
                  <a:srgbClr val="C8D8EE"/>
                </a:solidFill>
              </a:rPr>
              <a:t>REST API + Swagger docs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09 / DESPLIEGUE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Containerización &amp; CI/CD en Google Cloud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08760" cy="77724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</a:rPr>
              <a:t>git push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</a:rPr>
              <a:t>main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591056"/>
            <a:ext cx="182880" cy="54864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234440"/>
            <a:ext cx="1508760" cy="777240"/>
          </a:xfrm>
          <a:prstGeom prst="rect">
            <a:avLst/>
          </a:prstGeom>
          <a:solidFill>
            <a:srgbClr val="162D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234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GitHub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91056"/>
            <a:ext cx="182880" cy="54864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234440"/>
            <a:ext cx="1508760" cy="77724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234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Docker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Build+Push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591056"/>
            <a:ext cx="182880" cy="54864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234440"/>
            <a:ext cx="1508760" cy="777240"/>
          </a:xfrm>
          <a:prstGeom prst="rect">
            <a:avLst/>
          </a:prstGeom>
          <a:solidFill>
            <a:srgbClr val="162D50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234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Artifact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Registry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591056"/>
            <a:ext cx="182880" cy="54864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234440"/>
            <a:ext cx="1508760" cy="77724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234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Cloud 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Deploy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</a:rPr>
              <a:t>Pipeline CI/CD Automatizado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68880"/>
            <a:ext cx="269748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Docker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" y="2907792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python:3.11-slim base image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3337560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Tesseract OCR (español + inglés)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376732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Poppler para PDF→imagen (OCR)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197096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Puerto dinámico: Cloud Run inyecta $PORT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46888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468880"/>
            <a:ext cx="26974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487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Cloud Run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10128" y="2907792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–no-cpu-throttling: CPU activo en background tasks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0128" y="3337560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Cloud SQL via socket Unix (sin exponer credentials)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10128" y="376732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Workload Identity Federation (sin JSON keys)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4197096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Timeout 3600s + 2 GiB RAM para auditorías OCR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468880"/>
            <a:ext cx="2697480" cy="228600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468880"/>
            <a:ext cx="269748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4871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Seguridad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44768" y="2907792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GCP Secret Manager: todos los secretos externos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337560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Nunca en código fuente ni variables de entorno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44768" y="3767328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OTP por email para registro y recuperación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44768" y="4197096"/>
            <a:ext cx="2478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500"/>
                </a:solidFill>
              </a:rPr>
              <a:t>▸  </a:t>
            </a:r>
            <a:r>
              <a:rPr lang="en-US" sz="950" dirty="0">
                <a:solidFill>
                  <a:srgbClr val="C8D8EE"/>
                </a:solidFill>
              </a:rPr>
              <a:t>JWT (8h expiración) + bcrypt para contraseñas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10 / OBSERVABILIDAD &amp; API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Logging, Métricas y API REST Completa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520440"/>
          </a:xfrm>
          <a:prstGeom prst="rect">
            <a:avLst/>
          </a:prstGeom>
          <a:solidFill>
            <a:srgbClr val="162D50"/>
          </a:solidFill>
          <a:ln w="1905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Observabilidad Avanzada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Logging estructurado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Python logging jerarquía, LOG_LEVEL por entorno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023360" cy="457200"/>
          </a:xfrm>
          <a:prstGeom prst="rect">
            <a:avLst/>
          </a:prstGeom>
          <a:solidFill>
            <a:srgbClr val="162D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Tabla logs 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duracion_segundos · canal (bot/web) · n_hallazgos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52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Dashboard /admin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935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Total auditorías · duración promedio · top usuarios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4023360" cy="457200"/>
          </a:xfrm>
          <a:prstGeom prst="rect">
            <a:avLst/>
          </a:prstGeom>
          <a:solidFill>
            <a:srgbClr val="162D5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82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Control concurrencia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465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hay_auditoria_en_progreso() basado en DB, auto-expira 20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</a:rPr>
              <a:t>Trazabilidad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Cada acción registrada con telegram_id, canal, detalle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162D5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234440"/>
            <a:ext cx="402336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527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API REST + Roles de Acceso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4023360" cy="566928"/>
          </a:xfrm>
          <a:prstGeom prst="rect">
            <a:avLst/>
          </a:prstGeom>
          <a:solidFill>
            <a:srgbClr val="0F2040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719072"/>
            <a:ext cx="54864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746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/auth/*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register · verify OTP · login · reset password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023360" cy="566928"/>
          </a:xfrm>
          <a:prstGeom prst="rect">
            <a:avLst/>
          </a:prstGeom>
          <a:solidFill>
            <a:srgbClr val="0F2040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377440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/contracts/*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624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upload (FAISS) · query (RAG) · audit (multi-agente) · download PDF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035808"/>
            <a:ext cx="4023360" cy="566928"/>
          </a:xfrm>
          <a:prstGeom prst="rect">
            <a:avLst/>
          </a:prstGeom>
          <a:solidFill>
            <a:srgbClr val="0F204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3580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/admin/*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282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usuarios · roles · actividad · resumen métricas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362627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Sistema de Roles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8130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pendiente   </a:t>
            </a:r>
            <a:r>
              <a:rPr lang="en-US" sz="900" dirty="0">
                <a:solidFill>
                  <a:srgbClr val="C8D8EE"/>
                </a:solidFill>
              </a:rPr>
              <a:t>Sin acceso hasta </a:t>
            </a:r>
            <a:r>
              <a:rPr lang="en-US" sz="900" dirty="0" err="1">
                <a:solidFill>
                  <a:srgbClr val="C8D8EE"/>
                </a:solidFill>
              </a:rPr>
              <a:t>aprobación</a:t>
            </a:r>
            <a:r>
              <a:rPr lang="en-US" sz="900" dirty="0">
                <a:solidFill>
                  <a:srgbClr val="C8D8EE"/>
                </a:solidFill>
              </a:rPr>
              <a:t> admin.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40599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CC0"/>
                </a:solidFill>
              </a:rPr>
              <a:t>basico      </a:t>
            </a:r>
            <a:r>
              <a:rPr lang="en-US" sz="900" dirty="0">
                <a:solidFill>
                  <a:srgbClr val="C8D8EE"/>
                </a:solidFill>
              </a:rPr>
              <a:t>RAG queries · 10 consultas/día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3068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D4"/>
                </a:solidFill>
              </a:rPr>
              <a:t>auditor     </a:t>
            </a:r>
            <a:r>
              <a:rPr lang="en-US" sz="900" dirty="0">
                <a:solidFill>
                  <a:srgbClr val="C8D8EE"/>
                </a:solidFill>
              </a:rPr>
              <a:t>Auditoría completa + queries · 3 audit · 30 queries/día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4553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</a:rPr>
              <a:t>admin       </a:t>
            </a:r>
            <a:r>
              <a:rPr lang="en-US" sz="900" dirty="0">
                <a:solidFill>
                  <a:srgbClr val="C8D8EE"/>
                </a:solidFill>
              </a:rPr>
              <a:t>Panel admin + acceso total · Sin límites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4"/>
                </a:solidFill>
              </a:rPr>
              <a:t>11 / CONCLUSIONES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Impacto y Lecciones Aprendidas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6908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00C2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463040"/>
            <a:ext cx="457200" cy="45720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</a:rPr>
              <a:t>Arquitectura multi-agente supera al agente único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Especialización + paralelismo (Jurista/Cronista simultáneos) reduce TTR a menos de 1 hora. Dependencias explícitas garantizan calidad del análisis.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406908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633472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RAG + GraphRAG: cobertura total del contrato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RAG aísla contexto semántico entre secciones. GraphRAG navega relaciones estructurales. La combinación detecta errores que ninguna técnica sola podría.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406908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941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Prompting disciplinado reduce alucinaciones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05993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ReAct+CoT con salida JSON garantiza outputs parseables. Reintentos automáticos y parse_json_seguro aseguran resiliencia ante respuestas imperfectas del LLM.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406908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14630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Ingeniería de producción es tan crítica como la 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71907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Containerización, CI/CD, secrets management, concurrencia y observabilidad son lo que diferencia un prototipo de un sistema real en producción.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432304"/>
            <a:ext cx="406908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2633472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5237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</a:rPr>
              <a:t>Flexibilidad tecnológica garantiza mantenibilidad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8895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E"/>
                </a:solidFill>
              </a:rPr>
              <a:t>Soporte multi-LLM (VertexAI prod + Ollama dev) y multi-canal (web + bot) demuestra arquitectura desacoplada. 51 commits, 8 versiones publicadas.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96B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C2D4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de Auditoría Inteligente de Contratos — Producción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6400800" cy="54864"/>
          </a:xfrm>
          <a:prstGeom prst="rect">
            <a:avLst/>
          </a:prstGeom>
          <a:solidFill>
            <a:srgbClr val="0096B0">
              <a:alpha val="40000"/>
            </a:srgbClr>
          </a:solidFill>
          <a:ln w="12700">
            <a:solidFill>
              <a:srgbClr val="0096B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🌐 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</a:rPr>
              <a:t>contractia.pe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📦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</a:rPr>
              <a:t>github.com/ChristianMonrroy/contractia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</a:rPr>
              <a:t>📡 API 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</a:rPr>
              <a:t>contractia-api-444429430547.us-central1.run.app/docs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Christian Augusto Monrroy Romani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CC0"/>
                </a:solidFill>
              </a:rPr>
              <a:t>Maestría en Ciencia de Datos e Inteligencia Artificial  ·  UTEC  ·  Ciclo 6  ·  Marzo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4160520"/>
            <a:ext cx="1371600" cy="3200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v8.3.0 · 51 commits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1478</Words>
  <Application>Microsoft Office PowerPoint</Application>
  <PresentationFormat>Presentación en pantalla (16:9)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ContractIA v8.3.0</dc:title>
  <dc:subject>PptxGenJS Presentation</dc:subject>
  <dc:creator>Christian Augusto Monrroy Romani</dc:creator>
  <cp:lastModifiedBy>Christian Monrroy</cp:lastModifiedBy>
  <cp:revision>5</cp:revision>
  <dcterms:created xsi:type="dcterms:W3CDTF">2026-03-04T20:46:53Z</dcterms:created>
  <dcterms:modified xsi:type="dcterms:W3CDTF">2026-03-05T01:19:03Z</dcterms:modified>
</cp:coreProperties>
</file>